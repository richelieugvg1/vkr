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1"/>
  </p:notesMasterIdLst>
  <p:sldIdLst>
    <p:sldId id="256" r:id="rId2"/>
    <p:sldId id="299" r:id="rId3"/>
    <p:sldId id="300" r:id="rId4"/>
    <p:sldId id="274" r:id="rId5"/>
    <p:sldId id="290" r:id="rId6"/>
    <p:sldId id="295" r:id="rId7"/>
    <p:sldId id="301" r:id="rId8"/>
    <p:sldId id="294" r:id="rId9"/>
    <p:sldId id="272" r:id="rId10"/>
  </p:sldIdLst>
  <p:sldSz cx="24382413" cy="13716000"/>
  <p:notesSz cx="6858000" cy="9144000"/>
  <p:embeddedFontLst>
    <p:embeddedFont>
      <p:font typeface="Tahoma" panose="020B0604030504040204" pitchFamily="34" charset="0"/>
      <p:regular r:id="rId12"/>
      <p:bold r:id="rId13"/>
      <p:italic r:id="rId14"/>
    </p:embeddedFont>
    <p:embeddedFont>
      <p:font typeface="TT Norms Pro" panose="02000503030000090003" charset="0"/>
      <p:regular r:id="rId15"/>
      <p:bold r:id="rId16"/>
      <p:italic r:id="rId17"/>
      <p:boldItalic r:id="rId18"/>
    </p:embeddedFont>
    <p:embeddedFont>
      <p:font typeface="TT Norms Pro Medium" panose="02000803020000090003" charset="0"/>
      <p:regular r:id="rId19"/>
      <p:italic r:id="rId20"/>
    </p:embeddedFont>
  </p:embeddedFontLst>
  <p:custDataLst>
    <p:tags r:id="rId21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17" autoAdjust="0"/>
    <p:restoredTop sz="96126" autoAdjust="0"/>
  </p:normalViewPr>
  <p:slideViewPr>
    <p:cSldViewPr snapToGrid="0" showGuides="1">
      <p:cViewPr varScale="1">
        <p:scale>
          <a:sx n="42" d="100"/>
          <a:sy n="42" d="100"/>
        </p:scale>
        <p:origin x="197" y="62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69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88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99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983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F2D8-99E2-0801-23EB-A63F32D7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6857533-BDF5-D628-6DD1-D9AE791E1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FD2697-0AF4-CFE0-35FB-6FE0CB91A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1933D8-87C5-67A4-BF0F-E8AD16759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82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8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060771" y="4158222"/>
            <a:ext cx="13885337" cy="4314960"/>
          </a:xfrm>
        </p:spPr>
        <p:txBody>
          <a:bodyPr/>
          <a:lstStyle/>
          <a:p>
            <a:r>
              <a:rPr lang="ru-RU" dirty="0"/>
              <a:t>Мультиагентная система маршрутизации самолетов в воздушном пространстве</a:t>
            </a:r>
            <a:endParaRPr lang="ru-RU" sz="8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060772" y="8830828"/>
            <a:ext cx="11082460" cy="231350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Студент: Василий Григорьевич Гурьянов</a:t>
            </a:r>
            <a:br>
              <a:rPr lang="ru-RU" sz="3200" dirty="0">
                <a:solidFill>
                  <a:srgbClr val="4F5468"/>
                </a:solidFill>
                <a:effectLst/>
                <a:latin typeface="+mj-lt"/>
              </a:rPr>
            </a:br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Группа: БИВТ-22-СП-5</a:t>
            </a:r>
            <a:br>
              <a:rPr lang="ru-RU" sz="3200" dirty="0">
                <a:solidFill>
                  <a:srgbClr val="4F5468"/>
                </a:solidFill>
                <a:effectLst/>
                <a:latin typeface="+mj-lt"/>
              </a:rPr>
            </a:br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Научный руководитель: </a:t>
            </a:r>
          </a:p>
          <a:p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к.т.н., доц. Алексей Николаевич Гончаренко</a:t>
            </a:r>
          </a:p>
          <a:p>
            <a:endParaRPr lang="ru-RU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619113" y="1623295"/>
            <a:ext cx="22577318" cy="118247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Актуальность проблемы</a:t>
            </a:r>
          </a:p>
        </p:txBody>
      </p:sp>
      <p:pic>
        <p:nvPicPr>
          <p:cNvPr id="2050" name="Picture 2" descr="6Y9A8802">
            <a:extLst>
              <a:ext uri="{FF2B5EF4-FFF2-40B4-BE49-F238E27FC236}">
                <a16:creationId xmlns:a16="http://schemas.microsoft.com/office/drawing/2014/main" id="{16F167DC-7F56-C988-B980-BFBE70751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912" y="4240798"/>
            <a:ext cx="12332272" cy="822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20BC8D-3338-3126-2884-A2A863B23F73}"/>
              </a:ext>
            </a:extLst>
          </p:cNvPr>
          <p:cNvSpPr txBox="1"/>
          <p:nvPr/>
        </p:nvSpPr>
        <p:spPr>
          <a:xfrm>
            <a:off x="1619113" y="4240798"/>
            <a:ext cx="84262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600" dirty="0">
                <a:solidFill>
                  <a:schemeClr val="accent1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Интенсивное воздушное движение и протяженность российских авиатрасс делают задачу автоматизированного планирования маршрутов для множества самолетов в динамичной среде особенно актуальной. 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76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C9253-BD30-F2E5-5B6C-DDE6DC69E1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/>
              <a:t>Сравнение подходов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F537F3-05F0-173E-E217-178D059B15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8516" y="5392929"/>
            <a:ext cx="13770795" cy="2930141"/>
          </a:xfrm>
        </p:spPr>
        <p:txBody>
          <a:bodyPr/>
          <a:lstStyle/>
          <a:p>
            <a:r>
              <a:rPr lang="ru-RU" dirty="0" err="1"/>
              <a:t>Дейкстра</a:t>
            </a:r>
            <a:r>
              <a:rPr lang="ru-RU" dirty="0"/>
              <a:t> и А*</a:t>
            </a:r>
            <a:r>
              <a:rPr lang="en-US" dirty="0"/>
              <a:t> </a:t>
            </a:r>
            <a:r>
              <a:rPr lang="ru-RU" dirty="0"/>
              <a:t>— математическая сложность растет </a:t>
            </a:r>
            <a:r>
              <a:rPr lang="ru-RU" u="sng" dirty="0"/>
              <a:t>экспоненциально</a:t>
            </a:r>
            <a:r>
              <a:rPr lang="ru-RU" dirty="0"/>
              <a:t> по числу самолетов-агентов;</a:t>
            </a:r>
          </a:p>
          <a:p>
            <a:endParaRPr lang="ru-RU" dirty="0"/>
          </a:p>
          <a:p>
            <a:r>
              <a:rPr lang="en-US" dirty="0"/>
              <a:t>Reinforcement learning</a:t>
            </a:r>
            <a:r>
              <a:rPr lang="ru-RU" dirty="0"/>
              <a:t> — математическая сложность растет </a:t>
            </a:r>
            <a:r>
              <a:rPr lang="ru-RU" u="sng" dirty="0"/>
              <a:t>линейно</a:t>
            </a:r>
            <a:r>
              <a:rPr lang="ru-RU" dirty="0"/>
              <a:t> по числу самолетов-агентов.</a:t>
            </a:r>
            <a:endParaRPr lang="en-US" dirty="0"/>
          </a:p>
          <a:p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E03942F2-842D-5D83-4B2D-20FE07299C3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676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3153464" cy="1737165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и постановка задач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6ADD073-A171-CEBC-C97A-71C4A3B55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8516" y="3760060"/>
            <a:ext cx="16971195" cy="8346596"/>
          </a:xfrm>
        </p:spPr>
        <p:txBody>
          <a:bodyPr/>
          <a:lstStyle/>
          <a:p>
            <a:r>
              <a:rPr lang="ru-RU" sz="4400" b="1" dirty="0"/>
              <a:t>Цель работы: </a:t>
            </a:r>
          </a:p>
          <a:p>
            <a:r>
              <a:rPr lang="ru-RU" dirty="0"/>
              <a:t>разработать информационную систему для моделирования маршрутов множества самолетов в воздушном пространстве с использованием алгоритмов машинного обучения и с соблюдением норм безопасности.</a:t>
            </a:r>
          </a:p>
          <a:p>
            <a:endParaRPr lang="ru-RU" dirty="0"/>
          </a:p>
          <a:p>
            <a:r>
              <a:rPr lang="ru-RU" sz="4400" b="1" dirty="0"/>
              <a:t>Задачи:</a:t>
            </a:r>
          </a:p>
          <a:p>
            <a:pPr marL="742950" lvl="0" indent="-742950">
              <a:buFont typeface="+mj-lt"/>
              <a:buAutoNum type="arabicPeriod"/>
            </a:pPr>
            <a:r>
              <a:rPr lang="ru-RU" dirty="0"/>
              <a:t>Проведение анализа требований и стандартов авиаотрасли (на примере Аэрофлота);</a:t>
            </a:r>
          </a:p>
          <a:p>
            <a:pPr marL="742950" lvl="0" indent="-742950">
              <a:buFont typeface="+mj-lt"/>
              <a:buAutoNum type="arabicPeriod"/>
            </a:pPr>
            <a:r>
              <a:rPr lang="ru-RU" dirty="0"/>
              <a:t>Проведение анализа существующих алгоритмов решения задачи и проблематики;</a:t>
            </a:r>
          </a:p>
          <a:p>
            <a:pPr marL="742950" lvl="0" indent="-742950">
              <a:buFont typeface="+mj-lt"/>
              <a:buAutoNum type="arabicPeriod"/>
            </a:pPr>
            <a:r>
              <a:rPr lang="ru-RU" dirty="0"/>
              <a:t>Поиск оптимального алгоритма для текущей задачи;</a:t>
            </a:r>
          </a:p>
          <a:p>
            <a:pPr marL="742950" lvl="0" indent="-742950">
              <a:buFont typeface="+mj-lt"/>
              <a:buAutoNum type="arabicPeriod"/>
            </a:pPr>
            <a:r>
              <a:rPr lang="ru-RU" dirty="0"/>
              <a:t>Формализация воздушной среды;</a:t>
            </a:r>
          </a:p>
          <a:p>
            <a:pPr marL="742950" lvl="0" indent="-742950">
              <a:buFont typeface="+mj-lt"/>
              <a:buAutoNum type="arabicPeriod"/>
            </a:pPr>
            <a:r>
              <a:rPr lang="ru-RU" dirty="0"/>
              <a:t>Написание интерфейса и программного кода.</a:t>
            </a:r>
          </a:p>
          <a:p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3550551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302654" y="1692249"/>
            <a:ext cx="21116007" cy="1208351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Существующие решения</a:t>
            </a:r>
            <a:endParaRPr lang="ru-RU" sz="7200" b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2E6B965-482A-C7BE-9443-5F653B91F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64414"/>
              </p:ext>
            </p:extLst>
          </p:nvPr>
        </p:nvGraphicFramePr>
        <p:xfrm>
          <a:off x="1302654" y="3282461"/>
          <a:ext cx="22064185" cy="9833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15456">
                  <a:extLst>
                    <a:ext uri="{9D8B030D-6E8A-4147-A177-3AD203B41FA5}">
                      <a16:colId xmlns:a16="http://schemas.microsoft.com/office/drawing/2014/main" val="4085723749"/>
                    </a:ext>
                  </a:extLst>
                </a:gridCol>
                <a:gridCol w="5515456">
                  <a:extLst>
                    <a:ext uri="{9D8B030D-6E8A-4147-A177-3AD203B41FA5}">
                      <a16:colId xmlns:a16="http://schemas.microsoft.com/office/drawing/2014/main" val="2830777873"/>
                    </a:ext>
                  </a:extLst>
                </a:gridCol>
                <a:gridCol w="5515456">
                  <a:extLst>
                    <a:ext uri="{9D8B030D-6E8A-4147-A177-3AD203B41FA5}">
                      <a16:colId xmlns:a16="http://schemas.microsoft.com/office/drawing/2014/main" val="2305407933"/>
                    </a:ext>
                  </a:extLst>
                </a:gridCol>
                <a:gridCol w="5517817">
                  <a:extLst>
                    <a:ext uri="{9D8B030D-6E8A-4147-A177-3AD203B41FA5}">
                      <a16:colId xmlns:a16="http://schemas.microsoft.com/office/drawing/2014/main" val="4107753205"/>
                    </a:ext>
                  </a:extLst>
                </a:gridCol>
              </a:tblGrid>
              <a:tr h="9054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Наименование</a:t>
                      </a:r>
                      <a:endParaRPr lang="ru-RU" sz="3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Страна разработки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Преимущества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Недостатки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6786481"/>
                  </a:ext>
                </a:extLst>
              </a:tr>
              <a:tr h="1869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SimBrief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Швеция</a:t>
                      </a:r>
                      <a:endParaRPr lang="ru-RU" sz="3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подробный расчет траектории воздушного судна с учетом эшелонирования, набора высоты и снижения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расчет производится без учета погодных данных и движения встречных воздушных судов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684870"/>
                  </a:ext>
                </a:extLst>
              </a:tr>
              <a:tr h="6158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Flight Analytics</a:t>
                      </a:r>
                      <a:endParaRPr lang="ru-RU" sz="3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Индия</a:t>
                      </a:r>
                      <a:endParaRPr lang="ru-RU" sz="3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работа с реальными рейсами через </a:t>
                      </a:r>
                      <a:r>
                        <a:rPr lang="en-US" sz="3200" dirty="0">
                          <a:effectLst/>
                        </a:rPr>
                        <a:t>API</a:t>
                      </a:r>
                      <a:r>
                        <a:rPr lang="ru-RU" sz="3200" dirty="0">
                          <a:effectLst/>
                        </a:rPr>
                        <a:t> </a:t>
                      </a:r>
                      <a:r>
                        <a:rPr lang="ru-RU" sz="3200" dirty="0" err="1">
                          <a:effectLst/>
                        </a:rPr>
                        <a:t>AviationStack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чистые и отформатированные выходные данные для построения навигации воздушного судна;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 </a:t>
                      </a:r>
                      <a:endParaRPr lang="ru-RU" sz="3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отсутствие понятного интерфейса;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невозможность применить ПО а российских реалиях, в связи с недоступностью рейсов российских АК в  </a:t>
                      </a:r>
                      <a:r>
                        <a:rPr lang="ru-RU" sz="3200" dirty="0" err="1">
                          <a:effectLst/>
                        </a:rPr>
                        <a:t>AviationStack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  <a:endParaRPr lang="ru-RU" sz="3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59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38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298516" y="2115692"/>
            <a:ext cx="16291652" cy="1060646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</a:t>
            </a:r>
            <a:endParaRPr lang="ru-RU" sz="7200" b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866EB553-1E5E-CB7B-2CC8-CAAD46F28A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8516" y="5266944"/>
            <a:ext cx="21250588" cy="6108192"/>
          </a:xfrm>
        </p:spPr>
        <p:txBody>
          <a:bodyPr/>
          <a:lstStyle/>
          <a:p>
            <a:pPr algn="just"/>
            <a:r>
              <a:rPr lang="ru-RU" sz="4400" dirty="0"/>
              <a:t>В качестве математической модели использован табличный Q-</a:t>
            </a:r>
            <a:r>
              <a:rPr lang="ru-RU" sz="4400" dirty="0" err="1"/>
              <a:t>learning</a:t>
            </a:r>
            <a:r>
              <a:rPr lang="ru-RU" sz="4400" dirty="0"/>
              <a:t> с двумя независимыми агентами. Пространство состояний включает прогресс к цели, отклонение курса, текущий эшелон и наличие конфликта с другим воздушным судном. Пространство действий охватывает выбор одной из восьми ближайших навигационных точек и одного из пяти эшелонов. Функция вознаграждения стимулирует продвижение к цели и маневры при неблагоприятных факторах.</a:t>
            </a:r>
          </a:p>
        </p:txBody>
      </p:sp>
    </p:spTree>
    <p:extLst>
      <p:ext uri="{BB962C8B-B14F-4D97-AF65-F5344CB8AC3E}">
        <p14:creationId xmlns:p14="http://schemas.microsoft.com/office/powerpoint/2010/main" val="34047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D5C-89B8-BE60-FD56-2F30B65F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4562A8B5-4EED-3BFA-9137-C3EF71EB2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2"/>
            <a:ext cx="16291652" cy="1060646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  <a:endParaRPr lang="ru-RU" sz="7200" b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0C91C566-B9CB-C9D9-0A47-75D64220BF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8516" y="5266944"/>
            <a:ext cx="21250588" cy="61081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4400" dirty="0"/>
              <a:t>Backend: python</a:t>
            </a:r>
            <a:r>
              <a:rPr lang="ru-RU" sz="4400" dirty="0"/>
              <a:t>+</a:t>
            </a:r>
            <a:r>
              <a:rPr lang="en-US" sz="4400" dirty="0" err="1"/>
              <a:t>werkzeug+flask</a:t>
            </a:r>
            <a:endParaRPr lang="en-US" sz="4400" dirty="0"/>
          </a:p>
          <a:p>
            <a:pPr algn="just">
              <a:lnSpc>
                <a:spcPct val="150000"/>
              </a:lnSpc>
            </a:pPr>
            <a:r>
              <a:rPr lang="en-US" sz="4400" dirty="0"/>
              <a:t>Frontend: </a:t>
            </a:r>
            <a:r>
              <a:rPr lang="en-US" sz="4400" dirty="0" err="1"/>
              <a:t>OpenLayers</a:t>
            </a:r>
            <a:r>
              <a:rPr lang="en-US" sz="4400" dirty="0"/>
              <a:t>, vanilla JS, SVG</a:t>
            </a:r>
          </a:p>
          <a:p>
            <a:pPr algn="just">
              <a:lnSpc>
                <a:spcPct val="150000"/>
              </a:lnSpc>
            </a:pPr>
            <a:r>
              <a:rPr lang="en-US" sz="4400" dirty="0"/>
              <a:t>Reinforcement learning: </a:t>
            </a:r>
            <a:r>
              <a:rPr lang="en-US" sz="4400" dirty="0" err="1"/>
              <a:t>numpy</a:t>
            </a:r>
            <a:r>
              <a:rPr lang="en-US" sz="4400" dirty="0"/>
              <a:t>, pickle, </a:t>
            </a:r>
            <a:endParaRPr lang="ru-RU" sz="4400" dirty="0"/>
          </a:p>
          <a:p>
            <a:pPr algn="just">
              <a:lnSpc>
                <a:spcPct val="150000"/>
              </a:lnSpc>
            </a:pPr>
            <a:r>
              <a:rPr lang="en-US" sz="4400" dirty="0"/>
              <a:t>API </a:t>
            </a:r>
            <a:r>
              <a:rPr lang="en-US" sz="4400" dirty="0" err="1"/>
              <a:t>OpenNav</a:t>
            </a:r>
            <a:endParaRPr lang="en-US" sz="4400" dirty="0"/>
          </a:p>
          <a:p>
            <a:pPr algn="just">
              <a:lnSpc>
                <a:spcPct val="150000"/>
              </a:lnSpc>
            </a:pPr>
            <a:r>
              <a:rPr lang="en-US" sz="4400" dirty="0"/>
              <a:t>Git, Google Collab</a:t>
            </a:r>
          </a:p>
          <a:p>
            <a:pPr algn="just"/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69086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2AB0D2-4856-0A9E-7AA9-3EEAAA3A5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78" y="3582990"/>
            <a:ext cx="18993456" cy="904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7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2"/>
          </p:nvPr>
        </p:nvSpPr>
        <p:spPr>
          <a:xfrm>
            <a:off x="1298515" y="10086693"/>
            <a:ext cx="9406655" cy="26572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Ленинский проспект, д. 4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Москва, 119049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e-mail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m210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5058@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misis.ru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9267</TotalTime>
  <Words>593</Words>
  <Application>Microsoft Office PowerPoint</Application>
  <PresentationFormat>Произвольный</PresentationFormat>
  <Paragraphs>92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Aptos Display</vt:lpstr>
      <vt:lpstr>TT Norms Pro</vt:lpstr>
      <vt:lpstr>Arial</vt:lpstr>
      <vt:lpstr>TT Norms Pro Medium</vt:lpstr>
      <vt:lpstr>Aptos</vt:lpstr>
      <vt:lpstr>Tahoma</vt:lpstr>
      <vt:lpstr>Calibri</vt:lpstr>
      <vt:lpstr>Misis</vt:lpstr>
      <vt:lpstr>Мультиагентная система маршрутизации самолетов в воздушном пространстве</vt:lpstr>
      <vt:lpstr>Актуальность проблемы</vt:lpstr>
      <vt:lpstr>Сравнение подходов</vt:lpstr>
      <vt:lpstr>Цель и постановка задач</vt:lpstr>
      <vt:lpstr>Существующие решения</vt:lpstr>
      <vt:lpstr>Математическая модель</vt:lpstr>
      <vt:lpstr>Инструментарий</vt:lpstr>
      <vt:lpstr>Результаты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Гурьянов Василий Григорьевич</cp:lastModifiedBy>
  <cp:revision>139</cp:revision>
  <dcterms:created xsi:type="dcterms:W3CDTF">2022-07-26T11:52:44Z</dcterms:created>
  <dcterms:modified xsi:type="dcterms:W3CDTF">2026-04-09T18:30:41Z</dcterms:modified>
</cp:coreProperties>
</file>